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NMSE (lower is better)</c:v>
                </c:pt>
              </c:strCache>
            </c:strRef>
          </c:tx>
          <c:spPr>
            <a:solidFill>
              <a:srgbClr val="9FB2C8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2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2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5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A7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on raw inputs</c:v>
                  </c:pt>
                  <c:pt idx="1">
                    <c:v>Classical ESN (default settings)</c:v>
                  </c:pt>
                  <c:pt idx="2">
                    <c:v>Quantum reservoir (perfect readout)</c:v>
                  </c:pt>
                  <c:pt idx="3">
                    <c:v>Classical ESN (tuned)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0.148</c:v>
                </c:pt>
                <c:pt idx="1">
                  <c:v>0.19</c:v>
                </c:pt>
                <c:pt idx="2">
                  <c:v>0.0147</c:v>
                </c:pt>
                <c:pt idx="3">
                  <c:v>0.0138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4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6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NMSE at a realistic budget (40k shots/step)</c:v>
                </c:pt>
              </c:strCache>
            </c:strRef>
          </c:tx>
          <c:spPr>
            <a:solidFill>
              <a:srgbClr val="C1CDD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CDD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5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5E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5E9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5E9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5E9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Raw quantum features</c:v>
                  </c:pt>
                  <c:pt idx="1">
                    <c:v>Noise-model-corrected regression</c:v>
                  </c:pt>
                  <c:pt idx="2">
                    <c:v>Smoothing + time-lags</c:v>
                  </c:pt>
                  <c:pt idx="3">
                    <c:v>PCA denoising</c:v>
                  </c:pt>
                  <c:pt idx="4">
                    <c:v>Learned denoiser (neural net)</c:v>
                  </c:pt>
                  <c:pt idx="5">
                    <c:v>Learned denoiser (linear)</c:v>
                  </c:pt>
                  <c:pt idx="6">
                    <c:v>Reallocated shot budget</c:v>
                  </c:pt>
                  <c:pt idx="7">
                    <c:v>No quantum device at all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0.582</c:v>
                </c:pt>
                <c:pt idx="1">
                  <c:v>0.176</c:v>
                </c:pt>
                <c:pt idx="2">
                  <c:v>0.157</c:v>
                </c:pt>
                <c:pt idx="3">
                  <c:v>0.152</c:v>
                </c:pt>
                <c:pt idx="4">
                  <c:v>0.153</c:v>
                </c:pt>
                <c:pt idx="5">
                  <c:v>0.152</c:v>
                </c:pt>
                <c:pt idx="6">
                  <c:v>0.142</c:v>
                </c:pt>
                <c:pt idx="7">
                  <c:v>0.148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6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story about an honest benchmark. The punchline is a negative result, and that's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pond analogy is the anchor for the whole talk. The reservoir is untrained; only the readout is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setup: the promise is exponential richness. The next slide is the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carries the entire mechanism of the negative result: sampling error decays only as one over root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NMSE: normalized mean squared error. Below ~0.01 is excellent. 1.0 means useless.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Meta-lesson for reading any QML paper: ask how hard the classical baseline was tuned. Even with a perfect readout the quantum reservoir only ties a well-tuned ESN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axes: x is measurement budget per timestep (log), y is error (log). The gap between the blue curve and the gray dotted floor is the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Strategies: smoothing/lag-stacking, PCA subspace projection, errors-in-variables ridge with the analytically known noise covariance, simulation-trained linear and MLP denoisers, and shot reallocation across virtual nodes. All plateau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heart: a data-processing-inequality style argument. The MLP surrogate failure is also good news — the quantum features aren't classically redundant.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reframing is the research proposal: from post-processing to co-design of dynamics, encoding and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limitations is what makes the negative result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redirected question — invite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SHOT WALL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quantum machine-learning device that works on paper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apart the moment you try to read it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" y="3246120"/>
            <a:ext cx="146304" cy="146304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3246120"/>
            <a:ext cx="146304" cy="146304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3246120"/>
            <a:ext cx="146304" cy="146304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7" name="Shape 5"/>
          <p:cNvSpPr/>
          <p:nvPr/>
        </p:nvSpPr>
        <p:spPr>
          <a:xfrm>
            <a:off x="2029968" y="3246120"/>
            <a:ext cx="146304" cy="146304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8" name="Shape 6"/>
          <p:cNvSpPr/>
          <p:nvPr/>
        </p:nvSpPr>
        <p:spPr>
          <a:xfrm>
            <a:off x="2487168" y="3246120"/>
            <a:ext cx="146304" cy="146304"/>
          </a:xfrm>
          <a:prstGeom prst="ellipse">
            <a:avLst/>
          </a:prstGeom>
          <a:solidFill>
            <a:srgbClr val="3E5C8A"/>
          </a:solidFill>
          <a:ln/>
        </p:spPr>
      </p:sp>
      <p:sp>
        <p:nvSpPr>
          <p:cNvPr id="9" name="Shape 7"/>
          <p:cNvSpPr/>
          <p:nvPr/>
        </p:nvSpPr>
        <p:spPr>
          <a:xfrm>
            <a:off x="2944368" y="3246120"/>
            <a:ext cx="146304" cy="146304"/>
          </a:xfrm>
          <a:prstGeom prst="ellipse">
            <a:avLst/>
          </a:prstGeom>
          <a:solidFill>
            <a:srgbClr val="3E5C8A"/>
          </a:solidFill>
          <a:ln/>
        </p:spPr>
      </p:sp>
      <p:sp>
        <p:nvSpPr>
          <p:cNvPr id="10" name="Shape 8"/>
          <p:cNvSpPr/>
          <p:nvPr/>
        </p:nvSpPr>
        <p:spPr>
          <a:xfrm>
            <a:off x="3401568" y="3246120"/>
            <a:ext cx="146304" cy="146304"/>
          </a:xfrm>
          <a:prstGeom prst="ellipse">
            <a:avLst/>
          </a:prstGeom>
          <a:solidFill>
            <a:srgbClr val="3E5C8A"/>
          </a:solidFill>
          <a:ln/>
        </p:spPr>
      </p:sp>
      <p:sp>
        <p:nvSpPr>
          <p:cNvPr id="11" name="Shape 9"/>
          <p:cNvSpPr/>
          <p:nvPr/>
        </p:nvSpPr>
        <p:spPr>
          <a:xfrm>
            <a:off x="3858768" y="3246120"/>
            <a:ext cx="146304" cy="146304"/>
          </a:xfrm>
          <a:prstGeom prst="ellipse">
            <a:avLst/>
          </a:prstGeom>
          <a:solidFill>
            <a:srgbClr val="2A3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15968" y="3246120"/>
            <a:ext cx="146304" cy="146304"/>
          </a:xfrm>
          <a:prstGeom prst="ellipse">
            <a:avLst/>
          </a:prstGeom>
          <a:solidFill>
            <a:srgbClr val="2A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D8"/>
                </a:solidFill>
              </a:rPr>
              <a:t>A reproducible benchmark study — no quantum background needed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9D9"/>
                </a:solidFill>
              </a:rPr>
              <a:t>Amirshayan Hamidin   ·   July 2026   ·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github.com/AmirshayanHamidin/qrc-shot-wall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Reservoir computing, in 60 seconds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normally trains the whole network. Reservoir computing trains almost nothing: feed your signal into any fixed, complicated dynamical system — the “reservoir” — and train only a simple linear readout on its internal state.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2402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0487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series, one value per step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0" y="2766060"/>
            <a:ext cx="502920" cy="0"/>
          </a:xfrm>
          <a:prstGeom prst="line">
            <a:avLst/>
          </a:prstGeom>
          <a:noFill/>
          <a:ln w="31750">
            <a:solidFill>
              <a:srgbClr val="5A6B7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20116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E8EE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16712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reservoir (FIXED)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pond you throw stones into: ripples mix, interact, and carry a fading memory of every past input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2766060"/>
            <a:ext cx="502920" cy="0"/>
          </a:xfrm>
          <a:prstGeom prst="line">
            <a:avLst/>
          </a:prstGeom>
          <a:noFill/>
          <a:ln w="31750">
            <a:solidFill>
              <a:srgbClr val="5A6B7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22402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4048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(TRAINED)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 — the only part that learns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love it: no backpropagation, no vanishing gradients — the reservoir does the hard nonlinear work for free.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make the reservoir quantum?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system is an extravagantly rich pond.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hidden state from just 6 quantum bits — doubling with every qubit added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64592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evolves through genuinely nonlinear-looking, hard-to-imitate dynamics — we later verify no simple classical model can copy its features.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tests it carries exactly the kind of nonlinear memory the prediction task needs.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 paper: a tiny device, a huge reservoir. What could go wrong?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60-qubit reservoir would have more dimensions than there are atoms in the visible universe — and can't be simulated classically.)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you can never see the pond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quantum state is like polling a country, not photographing it. Each measurement (“shot”) collapses the state and returns one random ballot. To estimate what the state actually was, you repeat thousands of times and average.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25856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2448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743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coin-flip answer per feature: +1 or −1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4992" y="2057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22585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2448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shots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approaches the true value slowly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7064" y="2057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258568"/>
            <a:ext cx="384048" cy="38404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2448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27432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∝ 1/√S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more accuracy costs 100× more shots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reservoir computing the pond is moving: every timestep needs its own fresh poll, and the measurement itself disturbs the water.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51560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NARMA5 — a standard synthetic time series with nonlinear memory; the model must predict the next value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10896" cy="310896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84248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reservoir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simulated qubits (Qiskit): input injected each step, fixed scrambling dynamics, 84 measured features, linear readout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990088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16936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opponents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classical echo-state network (same feature count) and plain linear regression on the raw inputs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922776"/>
            <a:ext cx="310896" cy="310896"/>
          </a:xfrm>
          <a:prstGeom prst="ellipse">
            <a:avLst/>
          </a:prstGeom>
          <a:solidFill>
            <a:srgbClr val="5A6B7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49624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splits, error metric NMSE (0 = perfect, 1 = no better than guessing the mean); all code runs on a laptop CPU in under a minute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 — Tune your baselines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3716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55080" y="16002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14×</a:t>
            </a:r>
            <a:endParaRPr lang="en-US" sz="4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quantum reservoir “beat” the classical network — before we tuned the classical network.</a:t>
            </a:r>
            <a:endParaRPr lang="en-US" sz="4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tuning: a tie.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 — The shot wall</a:t>
            </a:r>
            <a:endParaRPr lang="en-US" sz="3000" dirty="0"/>
          </a:p>
        </p:txBody>
      </p:sp>
      <p:pic>
        <p:nvPicPr>
          <p:cNvPr id="3" name="Image 0" descr="qrc-shot-wall/figures/qrc_shot_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557784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72200" y="123444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readout: excellent (0.003).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readout: even 100,000 polls per timestep leaves the quantum model worse than a classical model that skips the quantum device entirely (orange dashed line).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perfect-readout floor extrapolates to ~10⁹ shots per timestep — four to five orders of magnitude beyond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 — Eight rescue attempts, one plateau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234440"/>
            <a:ext cx="2514600" cy="3017520"/>
          </a:xfrm>
          <a:prstGeom prst="roundRect">
            <a:avLst>
              <a:gd name="adj" fmla="val 3273"/>
            </a:avLst>
          </a:prstGeom>
          <a:solidFill>
            <a:srgbClr val="FDF0F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46520" y="146304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lands on ~0.15.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number is not a coincidence — it is exactly what a classical model achieves from the raw inputs alone (red bar).</a:t>
            </a:r>
            <a:endParaRPr lang="en-US" sz="15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realistic budgets, measurement noise erases everything the quantum reservoir added.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nothing downstream can help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4088" y="1371600"/>
            <a:ext cx="365760" cy="365760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8745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is real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reservoir's features are NOT classically fakeable — neither a linear model nor a neural network trained on 2,300 examples could reproduce them from the input history.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64992" y="114300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66160" y="13716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8745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it dies at the interface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happens at measurement, before any algorithm sees the data. Averaging, filtering, and learned denoisers can only reshape noise — they cannot resurrect information that was never recorded.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27064" y="114300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371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74520"/>
            <a:ext cx="221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beats variety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fixed budget, concentrating all shots on fewer measurements beat spreading them across more diverse ones — a design hint, not a fix.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analogy: if a question was never on the ballot, no amount of re-analyzing the ballots answers it.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question changes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end: “how do we clean up noisy quantum features?”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E9F5F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556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question:  </a:t>
            </a:r>
            <a:pPr indent="0" marL="0">
              <a:buNone/>
            </a:pPr>
            <a:r>
              <a:rPr lang="en-US" sz="15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per shot as a design criterion — build reservoirs and encodings that concentrate the task-relevant signal into a few strongly-readable measurements.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3081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306781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dynamics so signal lands in few high-magnitude observables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4992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3081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06781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fading-memory bound predicting the wall's height before you build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27064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3081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306781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8232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tolerates noisy features — the wall may sit lower there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does not show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family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NARMA time-series prediction only; other tasks may sit differently relative to the wall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0060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0" y="1371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reservoir design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6-qubit topology; the wall's height is design-dependent (that's the point of the next step)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9718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noise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only sampling noise — real hardware adds gate errors, making the real wall higher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80060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9718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features, not cost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baselines matched on feature count, not wall-clock or energy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reproducible: seeds, splits, and raw JSON are in the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advantage was real.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survived the measurement.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quantum reservoirs match — but don't beat — honest classical baselines, and realistic measurement budgets erase even that parity. The path forward is not better post-processing; it is designing quantum dynamics around the measurement bottleneck.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write-ups, figures: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github.com/AmirshayanHamidin/qrc-shot-wall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Amirshayan Hamidin · hamideinamirshayan@gmail.com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Shot Wall</dc:title>
  <dc:subject>PptxGenJS Presentation</dc:subject>
  <dc:creator>Amirshayan Hamidin</dc:creator>
  <cp:lastModifiedBy>Amirshayan Hamidin</cp:lastModifiedBy>
  <cp:revision>1</cp:revision>
  <dcterms:created xsi:type="dcterms:W3CDTF">2026-07-02T15:21:54Z</dcterms:created>
  <dcterms:modified xsi:type="dcterms:W3CDTF">2026-07-02T15:21:54Z</dcterms:modified>
</cp:coreProperties>
</file>